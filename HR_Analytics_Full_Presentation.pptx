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6B">
              <a:alpha val="60000"/>
            </a:srgbClr>
          </a:solidFill>
          <a:ln w="9525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548640"/>
            <a:ext cx="3108960" cy="3108960"/>
          </a:xfrm>
          <a:prstGeom prst="ellipse">
            <a:avLst/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WORKFORCE ANALYTICS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9601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&amp; HR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Hariom Kumar Dubey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5029200" cy="0"/>
          </a:xfrm>
          <a:prstGeom prst="line">
            <a:avLst/>
          </a:prstGeom>
          <a:noFill/>
          <a:ln w="12700">
            <a:solidFill>
              <a:srgbClr val="3A4E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51663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E3A6B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66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14600" y="51663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E3A6B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5166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51663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E3A6B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5166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97880" y="51663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E3A6B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5166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63500" dist="25400" dir="5400000">
              <a:srgbClr val="0F2A5C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425196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employees is expensive — recruiting, onboarding, and lost productivity all add cost. But a single company-wide attrition number doesn't tell HR where to act.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46304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63500" dist="25400" dir="5400000">
              <a:srgbClr val="0F2A5C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664208"/>
            <a:ext cx="457200" cy="45720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1" name="Text 9"/>
          <p:cNvSpPr/>
          <p:nvPr/>
        </p:nvSpPr>
        <p:spPr>
          <a:xfrm>
            <a:off x="6190488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12280" y="1627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12280" y="1975104"/>
            <a:ext cx="43891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HR analytics solution — from raw data to an interactive dashboard — that identifies attrition drivers and enables targeted, data-driven retention decisions.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0835640" cy="2148840"/>
          </a:xfrm>
          <a:prstGeom prst="roundRect">
            <a:avLst>
              <a:gd name="adj" fmla="val 2553"/>
            </a:avLst>
          </a:prstGeom>
          <a:solidFill>
            <a:srgbClr val="0F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HR ANALYTICS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an employee can cost 6–9 months of their salary once recruiting, onboarding, and lost productivity are factored in. HR analytics turns scattered employee records into a decision-making tool — helping organizations move from reacting to attrition after it happens, to predicting and preventing it before it does.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6184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Employee Attrition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19933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a flat company-wide attrition rate into department, tenure, age, and experience-level detail.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07792"/>
            <a:ext cx="548640" cy="54864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07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788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High-Risk Employee Groups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16382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exactly which segments of the workforce carry the highest attrition risk.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78224"/>
            <a:ext cx="548640" cy="54864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78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9593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Workforce Performance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3342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performance ratings, compensation, and training investment across departments.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48656"/>
            <a:ext cx="548640" cy="54864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48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51297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Data-Driven HR Decisions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00200" y="550468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 dashboard and recommendations HR can act on directly.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29200" cy="4617720"/>
          </a:xfrm>
          <a:prstGeom prst="roundRect">
            <a:avLst>
              <a:gd name="adj" fmla="val 1584"/>
            </a:avLst>
          </a:prstGeom>
          <a:solidFill>
            <a:srgbClr val="0F2A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HR Analytics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&amp; Performance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4389120" cy="0"/>
          </a:xfrm>
          <a:prstGeom prst="line">
            <a:avLst/>
          </a:prstGeom>
          <a:noFill/>
          <a:ln w="12700">
            <a:solidFill>
              <a:srgbClr val="3A4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4,327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06040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8587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38587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Attributes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5171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06040" y="45171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4406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HR Analytics Employee Attrition &amp; Performance dataset (Kaggle)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1828800"/>
            <a:ext cx="5532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18288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2440" y="1828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employee identifier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852160" y="2212848"/>
            <a:ext cx="5532120" cy="384048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22128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92440" y="22128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— Yes / No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852160" y="2596896"/>
            <a:ext cx="5532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25968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25968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R&amp;D, HR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852160" y="2980944"/>
            <a:ext cx="5532120" cy="384048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29809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92440" y="29809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age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852160" y="3364992"/>
            <a:ext cx="5532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3649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33649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5852160" y="3749040"/>
            <a:ext cx="5532120" cy="384048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37490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JobRole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92440" y="3749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distinct roles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852160" y="4133088"/>
            <a:ext cx="5532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41330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41330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5852160" y="4517136"/>
            <a:ext cx="5532120" cy="384048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38" name="Text 36"/>
          <p:cNvSpPr/>
          <p:nvPr/>
        </p:nvSpPr>
        <p:spPr>
          <a:xfrm>
            <a:off x="5989320" y="45171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WorkLifeBalance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92440" y="45171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rating scale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852160" y="4901184"/>
            <a:ext cx="5532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989320" y="490118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JobSatisfaction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92440" y="49011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rating scale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5852160" y="5285232"/>
            <a:ext cx="5532120" cy="384048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44" name="Text 42"/>
          <p:cNvSpPr/>
          <p:nvPr/>
        </p:nvSpPr>
        <p:spPr>
          <a:xfrm>
            <a:off x="5989320" y="52852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TotalWorkingYears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92440" y="52852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tenure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5852160" y="5669280"/>
            <a:ext cx="55321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989320" y="56692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PerformanceRating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92440" y="5669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rating scale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5852160" y="6053328"/>
            <a:ext cx="5532120" cy="384048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50" name="Text 48"/>
          <p:cNvSpPr/>
          <p:nvPr/>
        </p:nvSpPr>
        <p:spPr>
          <a:xfrm>
            <a:off x="5989320" y="60533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MaritalStatus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092440" y="6053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/ Married / Divorced</a:t>
            </a:r>
            <a:endParaRPr lang="en-US" sz="1030" dirty="0"/>
          </a:p>
        </p:txBody>
      </p:sp>
      <p:sp>
        <p:nvSpPr>
          <p:cNvPr id="52" name="Text 5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6B">
              <a:alpha val="60000"/>
            </a:srgbClr>
          </a:solidFill>
          <a:ln w="9525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548640"/>
            <a:ext cx="3108960" cy="3108960"/>
          </a:xfrm>
          <a:prstGeom prst="ellipse">
            <a:avLst/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063240" y="1508760"/>
            <a:ext cx="7863840" cy="621792"/>
          </a:xfrm>
          <a:prstGeom prst="roundRect">
            <a:avLst>
              <a:gd name="adj" fmla="val 8824"/>
            </a:avLst>
          </a:prstGeom>
          <a:solidFill>
            <a:srgbClr val="1E3A6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50876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12280" y="21122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63240" y="2350008"/>
            <a:ext cx="7863840" cy="621792"/>
          </a:xfrm>
          <a:prstGeom prst="roundRect">
            <a:avLst>
              <a:gd name="adj" fmla="val 8824"/>
            </a:avLst>
          </a:prstGeom>
          <a:solidFill>
            <a:srgbClr val="1E3A6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35000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(30 Queries)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12280" y="29535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3191256"/>
            <a:ext cx="7863840" cy="621792"/>
          </a:xfrm>
          <a:prstGeom prst="roundRect">
            <a:avLst>
              <a:gd name="adj" fmla="val 8824"/>
            </a:avLst>
          </a:prstGeom>
          <a:solidFill>
            <a:srgbClr val="1E3A6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3191256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(EDA)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3794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063240" y="4032504"/>
            <a:ext cx="7863840" cy="621792"/>
          </a:xfrm>
          <a:prstGeom prst="roundRect">
            <a:avLst>
              <a:gd name="adj" fmla="val 8824"/>
            </a:avLst>
          </a:prstGeom>
          <a:solidFill>
            <a:srgbClr val="1E3A6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4032504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4636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63240" y="4873752"/>
            <a:ext cx="7863840" cy="621792"/>
          </a:xfrm>
          <a:prstGeom prst="roundRect">
            <a:avLst>
              <a:gd name="adj" fmla="val 8824"/>
            </a:avLst>
          </a:prstGeom>
          <a:solidFill>
            <a:srgbClr val="1E3A6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487375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54772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63240" y="5715000"/>
            <a:ext cx="7863840" cy="621792"/>
          </a:xfrm>
          <a:prstGeom prst="roundRect">
            <a:avLst>
              <a:gd name="adj" fmla="val 8824"/>
            </a:avLst>
          </a:prstGeom>
          <a:solidFill>
            <a:srgbClr val="1E3A6B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571500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ANALYZED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65376"/>
            <a:ext cx="219456" cy="21945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91640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Workforce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542032"/>
            <a:ext cx="219456" cy="21945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68296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Analysis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44952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218688"/>
            <a:ext cx="219456" cy="21945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44952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Performance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895344"/>
            <a:ext cx="219456" cy="21945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2160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Insights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5303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572000"/>
            <a:ext cx="219456" cy="21945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398264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Analytics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691640"/>
            <a:ext cx="5257800" cy="566928"/>
          </a:xfrm>
          <a:prstGeom prst="roundRect">
            <a:avLst>
              <a:gd name="adj" fmla="val 8065"/>
            </a:avLst>
          </a:prstGeom>
          <a:solidFill>
            <a:srgbClr val="0F2A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6916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Business Queries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2368296"/>
            <a:ext cx="5257800" cy="566928"/>
          </a:xfrm>
          <a:prstGeom prst="roundRect">
            <a:avLst>
              <a:gd name="adj" fmla="val 8065"/>
            </a:avLst>
          </a:prstGeom>
          <a:solidFill>
            <a:srgbClr val="0F2A5C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236829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3044952"/>
            <a:ext cx="5257800" cy="566928"/>
          </a:xfrm>
          <a:prstGeom prst="roundRect">
            <a:avLst>
              <a:gd name="adj" fmla="val 8065"/>
            </a:avLst>
          </a:prstGeom>
          <a:solidFill>
            <a:srgbClr val="0F2A5C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04495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Table Expressions (CTE)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3721608"/>
            <a:ext cx="5257800" cy="566928"/>
          </a:xfrm>
          <a:prstGeom prst="roundRect">
            <a:avLst>
              <a:gd name="adj" fmla="val 8065"/>
            </a:avLst>
          </a:prstGeom>
          <a:solidFill>
            <a:srgbClr val="0F2A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372160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398264"/>
            <a:ext cx="5257800" cy="566928"/>
          </a:xfrm>
          <a:prstGeom prst="roundRect">
            <a:avLst>
              <a:gd name="adj" fmla="val 8065"/>
            </a:avLst>
          </a:prstGeom>
          <a:solidFill>
            <a:srgbClr val="0F2A5C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39826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EF1F5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3949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aggregations to window functions (RANK, DENSE_RANK, ROW_NUMBER), CTEs, and a composite CASE-based HR risk score — the SQL layer built the analytical foundation the dashboard was designed on top of.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585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standardized inconsistent category labels, and fixed data-type mismatches.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91640"/>
            <a:ext cx="457200" cy="45720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34840" y="22585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34840" y="271576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continuous fields (age, tenure) and mapped numeric scales to readable labels.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691640"/>
            <a:ext cx="457200" cy="45720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38160" y="22585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 Handling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38160" y="271576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treated null/missing entries so downstream analysis wasn't skewed.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5902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50474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distributions and relationships across attrition, department, and satisfaction.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51960" y="38404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4023360"/>
            <a:ext cx="457200" cy="45720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34840" y="45902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34840" y="50474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correlations between attrition and tenure, age, satisfaction, and work-life balance.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955280" y="38404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4023360"/>
            <a:ext cx="457200" cy="457200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38160" y="45902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38160" y="50474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exploratory charts to validate patterns before they were built into the dashboard.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6B">
              <a:alpha val="60000"/>
            </a:srgbClr>
          </a:solidFill>
          <a:ln w="9525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548640"/>
            <a:ext cx="3108960" cy="3108960"/>
          </a:xfrm>
          <a:prstGeom prst="ellipse">
            <a:avLst/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1792" y="6035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6949440" cy="3977640"/>
          </a:xfrm>
          <a:prstGeom prst="roundRect">
            <a:avLst>
              <a:gd name="adj" fmla="val 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dashboard_sh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280160"/>
            <a:ext cx="6711696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12801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790956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09560" y="14173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headline metrics — headcount, salary, age, tenure, satisfaction, and attrition rate.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7680960" y="205740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790956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09560" y="21945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Gender, Education, Attrition, Job Role, Marital Status, and Age slicers.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7680960" y="283464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790956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09560" y="29718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broken down by department, gender, satisfaction, work-life balance, and tenure.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7680960" y="361188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790956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09560" y="37490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button links to the Executive Summary page for stakeholder review.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7680960" y="43891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8"/>
          <p:cNvSpPr/>
          <p:nvPr/>
        </p:nvSpPr>
        <p:spPr>
          <a:xfrm>
            <a:off x="7909560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909560" y="45262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AE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condensed, decision-oriented second page for non-technical stakeholders.</a:t>
            </a:r>
            <a:endParaRPr lang="en-US" sz="1030" dirty="0"/>
          </a:p>
        </p:txBody>
      </p:sp>
      <p:sp>
        <p:nvSpPr>
          <p:cNvPr id="23" name="Text 20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841248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Attrition Rate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468880" y="190195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company-wide baseline every other finding compares against.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95728"/>
            <a:ext cx="73152" cy="841248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95728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24871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Has the Highest Attrition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468880" y="28346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double Research &amp; Development (15.8%) and Sales (15.1%).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28416"/>
            <a:ext cx="73152" cy="841248"/>
          </a:xfrm>
          <a:prstGeom prst="rect">
            <a:avLst/>
          </a:prstGeom>
          <a:solidFill>
            <a:srgbClr val="B0413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28416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30.2%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68880" y="341985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0–2 Year Tenure = Highest Risk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468880" y="376732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4× the attrition rate of employees with 10+ years (8.3%).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261104"/>
            <a:ext cx="73152" cy="841248"/>
          </a:xfrm>
          <a:prstGeom prst="rect">
            <a:avLst/>
          </a:prstGeom>
          <a:solidFill>
            <a:srgbClr val="D08B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61104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35.9%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468880" y="435254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Younger Employees Attrite More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468880" y="4700016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18–25 attrite at more than double the 26–30 cohort (21.1%).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108813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193792"/>
            <a:ext cx="73152" cy="841248"/>
          </a:xfrm>
          <a:prstGeom prst="rect">
            <a:avLst/>
          </a:prstGeom>
          <a:solidFill>
            <a:srgbClr val="D08B2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93792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0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468880" y="528523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Work-Life Balance Drives Attrition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468880" y="5632704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16.6% for employees reporting “Good” work-life balance.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0992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9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1848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Onboarding Programs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984248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onboarding and mentoring during an employee's first two years, when attrition risk is highest.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74320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43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6517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 Work-Life Balance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017520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work policies and wellness initiatives to address the strongest experience-related driver.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77647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76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6850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Employee Engagement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050792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feedback, career development conversations, and recognition — especially for early-career staff.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0857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80974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0974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7183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Retention Strategies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084064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retention review within Human Resources, given its disproportionate attrition rate.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4184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  <a:effectLst>
            <a:outerShdw sx="100000" sy="100000" kx="0" ky="0" algn="bl" rotWithShape="0" blurRad="50800" dist="25400" dir="5400000">
              <a:srgbClr val="0F2A5C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84301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430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575157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High-Risk Employees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6117336"/>
            <a:ext cx="9692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HR Risk Score to proactively flag and support employees before they leave.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APPLIED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4617720"/>
          </a:xfrm>
          <a:prstGeom prst="roundRect">
            <a:avLst>
              <a:gd name="adj" fmla="val 1188"/>
            </a:avLst>
          </a:prstGeom>
          <a:solidFill>
            <a:srgbClr val="0F2A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96112" y="22585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1214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96112" y="288036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96112" y="350215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3649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96112" y="412394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98678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4745736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60857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96112" y="536752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1170432" y="52303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539496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E3E6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SKILLS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82512" y="2258568"/>
            <a:ext cx="146304" cy="146304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656832" y="2121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382512" y="2880360"/>
            <a:ext cx="146304" cy="146304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3" name="Text 21"/>
          <p:cNvSpPr/>
          <p:nvPr/>
        </p:nvSpPr>
        <p:spPr>
          <a:xfrm>
            <a:off x="6656832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382512" y="3502152"/>
            <a:ext cx="146304" cy="146304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656832" y="3364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Development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382512" y="4123944"/>
            <a:ext cx="146304" cy="146304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7" name="Text 25"/>
          <p:cNvSpPr/>
          <p:nvPr/>
        </p:nvSpPr>
        <p:spPr>
          <a:xfrm>
            <a:off x="6656832" y="39867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Reporting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382512" y="4745736"/>
            <a:ext cx="146304" cy="146304"/>
          </a:xfrm>
          <a:prstGeom prst="ellipse">
            <a:avLst/>
          </a:prstGeom>
          <a:solidFill>
            <a:srgbClr val="0F2A5C"/>
          </a:solidFill>
          <a:ln/>
        </p:spPr>
      </p:sp>
      <p:sp>
        <p:nvSpPr>
          <p:cNvPr id="29" name="Text 27"/>
          <p:cNvSpPr/>
          <p:nvPr/>
        </p:nvSpPr>
        <p:spPr>
          <a:xfrm>
            <a:off x="6656832" y="460857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6B">
              <a:alpha val="60000"/>
            </a:srgbClr>
          </a:solidFill>
          <a:ln w="9525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548640"/>
            <a:ext cx="3108960" cy="3108960"/>
          </a:xfrm>
          <a:prstGeom prst="ellipse">
            <a:avLst/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2984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0116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43000" y="2304288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HR analytics solution — Excel to SQL to Python to Power BI — that turns a flat 16.2% attrition rate into a segment-level view HR can act 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99008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8529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43000" y="3145536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exactly where retention efforts should focus first: early-tenure employees, younger staff, and the HR department itself.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3133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694176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43000" y="3986784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thinking, SQL window functions and CTEs, DAX measure debugging, and translating analysis into stakeholder-ready visuals.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92040"/>
            <a:ext cx="5486400" cy="0"/>
          </a:xfrm>
          <a:prstGeom prst="line">
            <a:avLst/>
          </a:prstGeom>
          <a:noFill/>
          <a:ln w="12700">
            <a:solidFill>
              <a:srgbClr val="3A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74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HR Analytics Dashboard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6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2026-08-06T10:06:27Z</dcterms:created>
  <dcterms:modified xsi:type="dcterms:W3CDTF">2026-08-06T10:06:27Z</dcterms:modified>
</cp:coreProperties>
</file>